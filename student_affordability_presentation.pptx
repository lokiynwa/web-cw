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Play-regular.fntdata"/><Relationship Id="rId14" Type="http://schemas.openxmlformats.org/officeDocument/2006/relationships/slide" Target="slides/slide8.xml"/><Relationship Id="rId16" Type="http://schemas.openxmlformats.org/officeDocument/2006/relationships/font" Target="fonts/Play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f673ffa4b_2_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cf673ffa4b_2_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Claims, URLs, and project description derived from the final technical report uploaded by the user: student_affordability_final_report_filled (4).pdf.</a:t>
            </a:r>
            <a:endParaRPr/>
          </a:p>
        </p:txBody>
      </p:sp>
      <p:sp>
        <p:nvSpPr>
          <p:cNvPr id="61" name="Google Shape;61;g3cf673ffa4b_2_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673ffa4b_2_2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cf673ffa4b_2_2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Originality, data sources, and moderation model from the uploaded final report.</a:t>
            </a:r>
            <a:endParaRPr/>
          </a:p>
        </p:txBody>
      </p:sp>
      <p:sp>
        <p:nvSpPr>
          <p:cNvPr id="81" name="Google Shape;81;g3cf673ffa4b_2_2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673ffa4b_2_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cf673ffa4b_2_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Architecture, service-layer reuse, and deployment model derived from the uploaded final report.</a:t>
            </a:r>
            <a:endParaRPr/>
          </a:p>
        </p:txBody>
      </p:sp>
      <p:sp>
        <p:nvSpPr>
          <p:cNvPr id="99" name="Google Shape;99;g3cf673ffa4b_2_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f673ffa4b_2_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cf673ffa4b_2_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Dataset pipeline, cleaning policy, and schema summary derived from the uploaded final report.</a:t>
            </a:r>
            <a:endParaRPr/>
          </a:p>
        </p:txBody>
      </p:sp>
      <p:sp>
        <p:nvSpPr>
          <p:cNvPr id="131" name="Google Shape;131;g3cf673ffa4b_2_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f673ffa4b_2_10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f673ffa4b_2_10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Authentication model, moderation states, and route groups from the uploaded final report.</a:t>
            </a:r>
            <a:endParaRPr/>
          </a:p>
        </p:txBody>
      </p:sp>
      <p:sp>
        <p:nvSpPr>
          <p:cNvPr id="162" name="Google Shape;162;g3cf673ffa4b_2_10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f673ffa4b_2_1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f673ffa4b_2_1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Testing evidence, deployment model, and live URLs from the uploaded final report.</a:t>
            </a:r>
            <a:endParaRPr/>
          </a:p>
        </p:txBody>
      </p:sp>
      <p:sp>
        <p:nvSpPr>
          <p:cNvPr id="183" name="Google Shape;183;g3cf673ffa4b_2_1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f673ffa4b_2_1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cf673ffa4b_2_1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Demo sequence based on the implemented frontend and workflow described in the uploaded final report.</a:t>
            </a:r>
            <a:endParaRPr/>
          </a:p>
        </p:txBody>
      </p:sp>
      <p:sp>
        <p:nvSpPr>
          <p:cNvPr id="205" name="Google Shape;205;g3cf673ffa4b_2_1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f673ffa4b_2_1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cf673ffa4b_2_1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[Sources]</a:t>
            </a:r>
            <a:br>
              <a:rPr lang="en"/>
            </a:br>
            <a:r>
              <a:rPr lang="en"/>
              <a:t>GenAI declaration and table in the uploaded final report.</a:t>
            </a:r>
            <a:endParaRPr/>
          </a:p>
        </p:txBody>
      </p:sp>
      <p:sp>
        <p:nvSpPr>
          <p:cNvPr id="235" name="Google Shape;235;g3cf673ffa4b_2_1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0" y="0"/>
            <a:ext cx="9143771" cy="260604"/>
          </a:xfrm>
          <a:prstGeom prst="rect">
            <a:avLst/>
          </a:prstGeom>
          <a:solidFill>
            <a:srgbClr val="123B6A"/>
          </a:solidFill>
          <a:ln cap="flat" cmpd="sng" w="12700">
            <a:solidFill>
              <a:srgbClr val="123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4"/>
          <p:cNvSpPr/>
          <p:nvPr/>
        </p:nvSpPr>
        <p:spPr>
          <a:xfrm>
            <a:off x="88195" y="27407"/>
            <a:ext cx="4074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COMP3011 Coursework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288036" y="4841748"/>
            <a:ext cx="4114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Student Affordability Intelligence API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frontend-production-a7b4.up.railway.app" TargetMode="External"/><Relationship Id="rId4" Type="http://schemas.openxmlformats.org/officeDocument/2006/relationships/hyperlink" Target="https://frontend-production-a7b4.up.railway.app" TargetMode="External"/><Relationship Id="rId11" Type="http://schemas.openxmlformats.org/officeDocument/2006/relationships/hyperlink" Target="https://github.com/lokiynwa/web-cw" TargetMode="External"/><Relationship Id="rId10" Type="http://schemas.openxmlformats.org/officeDocument/2006/relationships/hyperlink" Target="https://github.com/lokiynwa/web-cw" TargetMode="External"/><Relationship Id="rId9" Type="http://schemas.openxmlformats.org/officeDocument/2006/relationships/hyperlink" Target="https://github.com/lokiynwa/web-cw" TargetMode="External"/><Relationship Id="rId5" Type="http://schemas.openxmlformats.org/officeDocument/2006/relationships/hyperlink" Target="https://frontend-production-a7b4.up.railway.app" TargetMode="External"/><Relationship Id="rId6" Type="http://schemas.openxmlformats.org/officeDocument/2006/relationships/hyperlink" Target="https://backend-production-ab5cb.up.railway.app/docs" TargetMode="External"/><Relationship Id="rId7" Type="http://schemas.openxmlformats.org/officeDocument/2006/relationships/hyperlink" Target="https://backend-production-ab5cb.up.railway.app/docs" TargetMode="External"/><Relationship Id="rId8" Type="http://schemas.openxmlformats.org/officeDocument/2006/relationships/hyperlink" Target="https://backend-production-ab5cb.up.railway.app/doc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rontend-production-a7b4.up.railway.app" TargetMode="External"/><Relationship Id="rId4" Type="http://schemas.openxmlformats.org/officeDocument/2006/relationships/hyperlink" Target="https://frontend-production-a7b4.up.railway.app" TargetMode="External"/><Relationship Id="rId5" Type="http://schemas.openxmlformats.org/officeDocument/2006/relationships/hyperlink" Target="https://frontend-production-a7b4.up.railway.app" TargetMode="External"/><Relationship Id="rId6" Type="http://schemas.openxmlformats.org/officeDocument/2006/relationships/hyperlink" Target="https://backend-production-ab5cb.up.railway.app/docs" TargetMode="External"/><Relationship Id="rId7" Type="http://schemas.openxmlformats.org/officeDocument/2006/relationships/hyperlink" Target="https://backend-production-ab5cb.up.railway.app/docs" TargetMode="External"/><Relationship Id="rId8" Type="http://schemas.openxmlformats.org/officeDocument/2006/relationships/hyperlink" Target="https://backend-production-ab5cb.up.railway.app/doc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frontend-production-a7b4.up.railway.app" TargetMode="External"/><Relationship Id="rId4" Type="http://schemas.openxmlformats.org/officeDocument/2006/relationships/hyperlink" Target="https://frontend-production-a7b4.up.railway.app" TargetMode="External"/><Relationship Id="rId11" Type="http://schemas.openxmlformats.org/officeDocument/2006/relationships/hyperlink" Target="https://github.com/lokiynwa/web-cw" TargetMode="External"/><Relationship Id="rId10" Type="http://schemas.openxmlformats.org/officeDocument/2006/relationships/hyperlink" Target="https://github.com/lokiynwa/web-cw" TargetMode="External"/><Relationship Id="rId9" Type="http://schemas.openxmlformats.org/officeDocument/2006/relationships/hyperlink" Target="https://github.com/lokiynwa/web-cw" TargetMode="External"/><Relationship Id="rId5" Type="http://schemas.openxmlformats.org/officeDocument/2006/relationships/hyperlink" Target="https://frontend-production-a7b4.up.railway.app" TargetMode="External"/><Relationship Id="rId6" Type="http://schemas.openxmlformats.org/officeDocument/2006/relationships/hyperlink" Target="https://backend-production-ab5cb.up.railway.app/docs" TargetMode="External"/><Relationship Id="rId7" Type="http://schemas.openxmlformats.org/officeDocument/2006/relationships/hyperlink" Target="https://backend-production-ab5cb.up.railway.app/docs" TargetMode="External"/><Relationship Id="rId8" Type="http://schemas.openxmlformats.org/officeDocument/2006/relationships/hyperlink" Target="https://backend-production-ab5cb.up.railway.app/doc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445770" y="720090"/>
            <a:ext cx="822960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685800" y="994410"/>
            <a:ext cx="4389120" cy="99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Student Affordability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Intelligence API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699516" y="2057400"/>
            <a:ext cx="404622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 full-stack platform for comparing student affordability using cleaned rental evidence, live local cost submissions, and role-based moderation.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706374" y="3086100"/>
            <a:ext cx="205740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Loki West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72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COMP3011 Coursework 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5040630" y="960120"/>
            <a:ext cx="3154680" cy="3360420"/>
          </a:xfrm>
          <a:prstGeom prst="roundRect">
            <a:avLst>
              <a:gd fmla="val 1739" name="adj"/>
            </a:avLst>
          </a:prstGeom>
          <a:solidFill>
            <a:srgbClr val="F2F7FC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5246375" y="1234452"/>
            <a:ext cx="2743200" cy="1097400"/>
          </a:xfrm>
          <a:prstGeom prst="roundRect">
            <a:avLst>
              <a:gd fmla="val 5926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5356098" y="1330452"/>
            <a:ext cx="25374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Live demo links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5362914" y="1519146"/>
            <a:ext cx="25101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: frontend-production-a7b4.up.railway.app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Backend: backend-production-ab5cb.up.railway.app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Docs: /docs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>
            <a:hlinkClick r:id="rId3"/>
          </p:cNvPr>
          <p:cNvSpPr/>
          <p:nvPr/>
        </p:nvSpPr>
        <p:spPr>
          <a:xfrm>
            <a:off x="5349240" y="2434590"/>
            <a:ext cx="2537460" cy="377190"/>
          </a:xfrm>
          <a:prstGeom prst="roundRect">
            <a:avLst>
              <a:gd fmla="val 14545" name="adj"/>
            </a:avLst>
          </a:prstGeom>
          <a:solidFill>
            <a:srgbClr val="EAF2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>
            <a:hlinkClick r:id="rId4"/>
          </p:cNvPr>
          <p:cNvSpPr/>
          <p:nvPr/>
        </p:nvSpPr>
        <p:spPr>
          <a:xfrm>
            <a:off x="5431536" y="2510028"/>
            <a:ext cx="237286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Open live frontend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>
            <a:hlinkClick r:id="rId6"/>
          </p:cNvPr>
          <p:cNvSpPr/>
          <p:nvPr/>
        </p:nvSpPr>
        <p:spPr>
          <a:xfrm>
            <a:off x="5349240" y="2914650"/>
            <a:ext cx="2537460" cy="377190"/>
          </a:xfrm>
          <a:prstGeom prst="roundRect">
            <a:avLst>
              <a:gd fmla="val 14545" name="adj"/>
            </a:avLst>
          </a:prstGeom>
          <a:solidFill>
            <a:srgbClr val="F5F7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>
            <a:hlinkClick r:id="rId7"/>
          </p:cNvPr>
          <p:cNvSpPr/>
          <p:nvPr/>
        </p:nvSpPr>
        <p:spPr>
          <a:xfrm>
            <a:off x="5431536" y="2990088"/>
            <a:ext cx="237286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Open Swagger docs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>
            <a:hlinkClick r:id="rId9"/>
          </p:cNvPr>
          <p:cNvSpPr/>
          <p:nvPr/>
        </p:nvSpPr>
        <p:spPr>
          <a:xfrm>
            <a:off x="5349240" y="3394710"/>
            <a:ext cx="2537460" cy="377190"/>
          </a:xfrm>
          <a:prstGeom prst="roundRect">
            <a:avLst>
              <a:gd fmla="val 14545" name="adj"/>
            </a:avLst>
          </a:prstGeom>
          <a:solidFill>
            <a:srgbClr val="F5F7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>
            <a:hlinkClick r:id="rId10"/>
          </p:cNvPr>
          <p:cNvSpPr/>
          <p:nvPr/>
        </p:nvSpPr>
        <p:spPr>
          <a:xfrm>
            <a:off x="5431536" y="3470148"/>
            <a:ext cx="2372868" cy="253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Open GitHub repo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Problem and originality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Why this is more than a rent-only comparison API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34924" y="1062990"/>
            <a:ext cx="4114800" cy="332613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Rent alone gives an incomplete view of affordability across student locations.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The platform combines a seeded rental dataset with live local cost observations for PINT and TAKEAWAY.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Crowd submissions go live immediately, creating a stronger live product demo than an approval-first workflow.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Moderation still exists through ACTIVE, FLAGGED, and REMOVED states with audit logging.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The same business logic is exposed through both REST and MCP, showing interface-independent design.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869180" y="1062990"/>
            <a:ext cx="3737610" cy="857250"/>
          </a:xfrm>
          <a:prstGeom prst="roundRect">
            <a:avLst>
              <a:gd fmla="val 6400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4978908" y="1159002"/>
            <a:ext cx="353187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Originality in one sentence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992624" y="1378458"/>
            <a:ext cx="3504438" cy="45948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The system treats affordability as a multi-factor analytical problem by combining cleaned rental evidence with live local spending signals rather than exposing a simple listings CRUD API.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869180" y="2091690"/>
            <a:ext cx="1748790" cy="1508760"/>
          </a:xfrm>
          <a:prstGeom prst="roundRect">
            <a:avLst>
              <a:gd fmla="val 3636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4978908" y="2187702"/>
            <a:ext cx="15430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Seeded evidence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992624" y="2407158"/>
            <a:ext cx="1515618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Kaggle accommodation CSV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Immutable raw import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Conservative cleaning rules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City/area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6858000" y="2091690"/>
            <a:ext cx="1748790" cy="1508760"/>
          </a:xfrm>
          <a:prstGeom prst="roundRect">
            <a:avLst>
              <a:gd fmla="val 3636" name="adj"/>
            </a:avLst>
          </a:prstGeom>
          <a:solidFill>
            <a:srgbClr val="F3FBF7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6967728" y="2187702"/>
            <a:ext cx="15430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Live evidence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981444" y="2407158"/>
            <a:ext cx="1515618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User accounts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Immediate submissions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Moderator review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Active-only 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7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Architecture overview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Layered design with shared business logic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48650" y="1131576"/>
            <a:ext cx="1508700" cy="809400"/>
          </a:xfrm>
          <a:prstGeom prst="roundRect">
            <a:avLst>
              <a:gd fmla="val 8000" name="adj"/>
            </a:avLst>
          </a:prstGeom>
          <a:solidFill>
            <a:srgbClr val="EAF2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658368" y="122758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React frontend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672084" y="1447038"/>
            <a:ext cx="1275588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Dashboard, auth, submission form, moderator page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2125980" y="1323594"/>
            <a:ext cx="342900" cy="240030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2606050" y="994399"/>
            <a:ext cx="1851600" cy="10287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2715768" y="1090422"/>
            <a:ext cx="16459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FastAPI routers + schemas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729484" y="1309878"/>
            <a:ext cx="1618488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submissions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moderation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affordability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560570" y="1323594"/>
            <a:ext cx="342900" cy="240030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972050" y="925830"/>
            <a:ext cx="1954530" cy="1097280"/>
          </a:xfrm>
          <a:prstGeom prst="roundRect">
            <a:avLst>
              <a:gd fmla="val 5000" name="adj"/>
            </a:avLst>
          </a:prstGeom>
          <a:solidFill>
            <a:srgbClr val="F3FBF7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5081778" y="1021842"/>
            <a:ext cx="174879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Service layer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5095494" y="1241298"/>
            <a:ext cx="1721358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analytics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duplicate checks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moderation transitions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cleaning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7029450" y="1323594"/>
            <a:ext cx="342900" cy="240030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7440930" y="994410"/>
            <a:ext cx="1200150" cy="960120"/>
          </a:xfrm>
          <a:prstGeom prst="roundRect">
            <a:avLst>
              <a:gd fmla="val 5714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7550658" y="1090422"/>
            <a:ext cx="9944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7564374" y="1309878"/>
            <a:ext cx="966978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raw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cleaned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users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submissions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754380" y="2743200"/>
            <a:ext cx="2331720" cy="116586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864108" y="2839212"/>
            <a:ext cx="21259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Why the layered structure matters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877824" y="3058668"/>
            <a:ext cx="20985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Most distinctive rules live in services, not controllers.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Late changes to auth and moderation were localised rather than forcing a full rewrite.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429000" y="2743200"/>
            <a:ext cx="2331720" cy="116586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3538728" y="2839212"/>
            <a:ext cx="21259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REST and MCP reuse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3552444" y="3058668"/>
            <a:ext cx="20985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MCP tools call the same analytics and affordability services used by HTTP routes.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Parity tests check that both interfaces produce consistent outputs.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103620" y="2743200"/>
            <a:ext cx="2331720" cy="116586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6213348" y="2839212"/>
            <a:ext cx="21259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Deployment shape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227064" y="3058668"/>
            <a:ext cx="2098548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Backend, frontend, and PostgreSQL are separate Railway services.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The frontend consumes the live backend through an environment-based API URL.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Dataset pipeline and schema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From immutable source rows to analytical outputs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493776" y="1131570"/>
            <a:ext cx="1577340" cy="1028700"/>
          </a:xfrm>
          <a:prstGeom prst="roundRect">
            <a:avLst>
              <a:gd fmla="val 5333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603504" y="122758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1. Raw CSV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617220" y="1447038"/>
            <a:ext cx="1344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raw_data/accommodation.csv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Imported unchanged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2125980" y="1495044"/>
            <a:ext cx="308610" cy="192024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2242566" y="1131570"/>
            <a:ext cx="1577340" cy="10287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2352294" y="122758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2. Raw tables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2366010" y="1447038"/>
            <a:ext cx="1344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import_batches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raw_listings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3874770" y="1495044"/>
            <a:ext cx="308610" cy="192024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3991356" y="1131570"/>
            <a:ext cx="1577340" cy="1028700"/>
          </a:xfrm>
          <a:prstGeom prst="roundRect">
            <a:avLst>
              <a:gd fmla="val 5333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4101084" y="122758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3. Cleaning step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114800" y="1447038"/>
            <a:ext cx="1344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Rule-based transform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No silent guessing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623560" y="1495044"/>
            <a:ext cx="308610" cy="192024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740146" y="1131570"/>
            <a:ext cx="1577340" cy="10287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5849874" y="122758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4. Cleaned tables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863590" y="1447038"/>
            <a:ext cx="1344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city, area, house_size_bucket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is_ensuite_proxy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372350" y="1495044"/>
            <a:ext cx="308610" cy="192024"/>
          </a:xfrm>
          <a:prstGeom prst="chevron">
            <a:avLst>
              <a:gd fmla="val 50000" name="adj"/>
            </a:avLst>
          </a:prstGeom>
          <a:solidFill>
            <a:srgbClr val="7AA2D2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7488936" y="1131570"/>
            <a:ext cx="1577340" cy="1028700"/>
          </a:xfrm>
          <a:prstGeom prst="roundRect">
            <a:avLst>
              <a:gd fmla="val 5333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7598664" y="1227582"/>
            <a:ext cx="137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5. Analytics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612380" y="1447038"/>
            <a:ext cx="1344168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rent + crowd costs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affordability score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17220" y="2743200"/>
            <a:ext cx="42519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Critical financial fields such as weekly rent are never guessed.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Ambiguous values become null or excluded rather than silently imputed.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Derived fields are treated as analytical proxies, not ground truth.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The schema separates source data, analytical data, and user-generated data so provenance and trust boundaries stay explicit.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177790" y="2743200"/>
            <a:ext cx="3429000" cy="1508760"/>
          </a:xfrm>
          <a:prstGeom prst="roundRect">
            <a:avLst>
              <a:gd fmla="val 3636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287518" y="2839212"/>
            <a:ext cx="32232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Key tables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5301234" y="3058668"/>
            <a:ext cx="3195828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Source: import_batches, raw_listings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Analytical: cleaned_listings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User and governance: users, api_keys, user_cost_submissions, moderation_statuses, submission_moderation_log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API design, auth, and moderation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How the final product behaves in practice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548640" y="1062990"/>
            <a:ext cx="2674620" cy="1234440"/>
          </a:xfrm>
          <a:prstGeom prst="roundRect">
            <a:avLst>
              <a:gd fmla="val 4444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658368" y="115900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Auth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72084" y="1378458"/>
            <a:ext cx="2441448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Users register and log in through account-based auth.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Normal website users receive bearer tokens.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Legacy API keys remain secondary for admin/dev/MCP scenarios.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3360420" y="1062990"/>
            <a:ext cx="2674620" cy="1234440"/>
          </a:xfrm>
          <a:prstGeom prst="roundRect">
            <a:avLst>
              <a:gd fmla="val 4444" name="adj"/>
            </a:avLst>
          </a:prstGeom>
          <a:solidFill>
            <a:srgbClr val="F3FBF7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470148" y="115900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Submission model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3483864" y="1378458"/>
            <a:ext cx="2441448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PINT and TAKEAWAY submissions are ACTIVE immediately if validation passes.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Immediate inclusion creates a stronger live demo.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172200" y="1062990"/>
            <a:ext cx="2331720" cy="1234440"/>
          </a:xfrm>
          <a:prstGeom prst="roundRect">
            <a:avLst>
              <a:gd fmla="val 4444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6281928" y="1159002"/>
            <a:ext cx="21259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Moderator powers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295644" y="1378458"/>
            <a:ext cx="2098548" cy="83667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FLAGGED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REMOVED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Restore to ACTIVE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Audit logging for every action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62356" y="2674620"/>
            <a:ext cx="4800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Resource groups are organised under /api/v1: health, auth, rent analytics, cost analytics, affordability, submissions, and moderation.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Public reads stay open where appropriate, while write and moderator actions require authentication and role checks.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Server-side duplicate and plausibility checks protect analytics quality once live submissions are enabled.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589270" y="2743200"/>
            <a:ext cx="2948940" cy="161163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698998" y="2839212"/>
            <a:ext cx="274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Key endpoint examples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712714" y="3058668"/>
            <a:ext cx="2715768" cy="12138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POST /api/v1/auth/register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POST /api/v1/auth/login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GET /api/v1/affordability/cities/{city}/score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POST /api/v1/submissions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POST /api/v1/submissions/{id}/moderation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Testing, deployment, and evidence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Why the implementation is defensible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48640" y="1062990"/>
            <a:ext cx="2674620" cy="1268730"/>
          </a:xfrm>
          <a:prstGeom prst="roundRect">
            <a:avLst>
              <a:gd fmla="val 4324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658368" y="115900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Testing layers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72084" y="1378458"/>
            <a:ext cx="2441448" cy="8709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Unit tests for parsing, scoring, duplicate checks, and auth helpers.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Integration tests for routes, permissions, moderation transitions, and analytics inclusion.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Workflow tests for live submission to moderator removal.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3394710" y="1062990"/>
            <a:ext cx="2674620" cy="1268730"/>
          </a:xfrm>
          <a:prstGeom prst="roundRect">
            <a:avLst>
              <a:gd fmla="val 4324" name="adj"/>
            </a:avLst>
          </a:prstGeom>
          <a:solidFill>
            <a:srgbClr val="F3FBF7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3504438" y="115900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Deployment evidence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518154" y="1378458"/>
            <a:ext cx="2441448" cy="8709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Backend, frontend, and PostgreSQL deployed on Railway.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Remote database seeded explicitly through migration + import + transform workflow.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240780" y="1062990"/>
            <a:ext cx="2194560" cy="1268730"/>
          </a:xfrm>
          <a:prstGeom prst="roundRect">
            <a:avLst>
              <a:gd fmla="val 4324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6350508" y="1159002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Repository evidence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364224" y="1378458"/>
            <a:ext cx="1961388" cy="87096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Staged commits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README + reviewer guide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API docs PDF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Technical report + GenAI appendix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03504" y="2743200"/>
            <a:ext cx="4663440" cy="157734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The final backend includes 56 passing tests and a green production build path.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MCP parity tests strengthen the claim that the same service layer supports both REST and MCP outputs.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A current limitation is that the frontend does not yet have a dedicated automated UI test suite.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>
            <a:hlinkClick r:id="rId3"/>
          </p:cNvPr>
          <p:cNvSpPr/>
          <p:nvPr/>
        </p:nvSpPr>
        <p:spPr>
          <a:xfrm>
            <a:off x="5692140" y="2846070"/>
            <a:ext cx="2468880" cy="397764"/>
          </a:xfrm>
          <a:prstGeom prst="roundRect">
            <a:avLst>
              <a:gd fmla="val 13793" name="adj"/>
            </a:avLst>
          </a:prstGeom>
          <a:solidFill>
            <a:srgbClr val="EAF2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>
            <a:hlinkClick r:id="rId4"/>
          </p:cNvPr>
          <p:cNvSpPr/>
          <p:nvPr/>
        </p:nvSpPr>
        <p:spPr>
          <a:xfrm>
            <a:off x="5774436" y="2921508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Open live frontend demo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>
            <a:hlinkClick r:id="rId6"/>
          </p:cNvPr>
          <p:cNvSpPr/>
          <p:nvPr/>
        </p:nvSpPr>
        <p:spPr>
          <a:xfrm>
            <a:off x="5692140" y="3360420"/>
            <a:ext cx="2468880" cy="397764"/>
          </a:xfrm>
          <a:prstGeom prst="roundRect">
            <a:avLst>
              <a:gd fmla="val 13793" name="adj"/>
            </a:avLst>
          </a:prstGeom>
          <a:solidFill>
            <a:srgbClr val="F5F7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>
            <a:hlinkClick r:id="rId7"/>
          </p:cNvPr>
          <p:cNvSpPr/>
          <p:nvPr/>
        </p:nvSpPr>
        <p:spPr>
          <a:xfrm>
            <a:off x="5774436" y="3435858"/>
            <a:ext cx="23042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Open live backend docs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Live website demo plan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I will demonstrate the product through the deployed frontend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82930" y="1062990"/>
            <a:ext cx="1508760" cy="788670"/>
          </a:xfrm>
          <a:prstGeom prst="roundRect">
            <a:avLst>
              <a:gd fmla="val 6957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692658" y="115900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1. View affordability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06374" y="1378458"/>
            <a:ext cx="127558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Browse a city and area ranking without login.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228850" y="1062990"/>
            <a:ext cx="1508760" cy="78867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2338578" y="115900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2. Create account / log in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2352294" y="1378458"/>
            <a:ext cx="127558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Use the live auth flow on the website.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874770" y="1062990"/>
            <a:ext cx="1508760" cy="788670"/>
          </a:xfrm>
          <a:prstGeom prst="roundRect">
            <a:avLst>
              <a:gd fmla="val 6957" name="adj"/>
            </a:avLst>
          </a:prstGeom>
          <a:solidFill>
            <a:srgbClr val="F3FBF7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3984498" y="115900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3. Submit takeaway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998214" y="1378458"/>
            <a:ext cx="127558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Add a TAKEAWAY price as a normal user.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520690" y="1062990"/>
            <a:ext cx="1508760" cy="788670"/>
          </a:xfrm>
          <a:prstGeom prst="roundRect">
            <a:avLst>
              <a:gd fmla="val 6957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630418" y="115900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4. Show immediate change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5644134" y="1378458"/>
            <a:ext cx="127558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Refresh analytics and show live inclusion.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166610" y="1062990"/>
            <a:ext cx="1508760" cy="788670"/>
          </a:xfrm>
          <a:prstGeom prst="roundRect">
            <a:avLst>
              <a:gd fmla="val 6957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7276338" y="115900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5. Moderator page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7290054" y="1378458"/>
            <a:ext cx="1275588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Flag or remove the same submission.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51510" y="243459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5875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This sequence demonstrates public analytics, account auth, live submissions, moderation, and dynamic analytics behaviour in under two minutes.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875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300"/>
              <a:buFont typeface="Arial"/>
              <a:buChar char="•"/>
            </a:pPr>
            <a:r>
              <a:rPr b="0" i="0" lang="en" sz="13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If time allows, I will finish by opening Swagger or mentioning the MCP extension as evidence of a shared service layer.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>
            <a:hlinkClick r:id="rId3"/>
          </p:cNvPr>
          <p:cNvSpPr/>
          <p:nvPr/>
        </p:nvSpPr>
        <p:spPr>
          <a:xfrm>
            <a:off x="5863590" y="2743200"/>
            <a:ext cx="2331720" cy="425196"/>
          </a:xfrm>
          <a:prstGeom prst="roundRect">
            <a:avLst>
              <a:gd fmla="val 12903" name="adj"/>
            </a:avLst>
          </a:prstGeom>
          <a:solidFill>
            <a:srgbClr val="EAF2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>
            <a:hlinkClick r:id="rId4"/>
          </p:cNvPr>
          <p:cNvSpPr/>
          <p:nvPr/>
        </p:nvSpPr>
        <p:spPr>
          <a:xfrm>
            <a:off x="5945886" y="2818638"/>
            <a:ext cx="216712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Frontend live demo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2">
            <a:hlinkClick r:id="rId6"/>
          </p:cNvPr>
          <p:cNvSpPr/>
          <p:nvPr/>
        </p:nvSpPr>
        <p:spPr>
          <a:xfrm>
            <a:off x="5863590" y="3291840"/>
            <a:ext cx="2331720" cy="425196"/>
          </a:xfrm>
          <a:prstGeom prst="roundRect">
            <a:avLst>
              <a:gd fmla="val 12903" name="adj"/>
            </a:avLst>
          </a:prstGeom>
          <a:solidFill>
            <a:srgbClr val="F5F7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>
            <a:hlinkClick r:id="rId7"/>
          </p:cNvPr>
          <p:cNvSpPr/>
          <p:nvPr/>
        </p:nvSpPr>
        <p:spPr>
          <a:xfrm>
            <a:off x="5945886" y="3367278"/>
            <a:ext cx="216712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Swagger / OpenAPI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>
            <a:hlinkClick r:id="rId9"/>
          </p:cNvPr>
          <p:cNvSpPr/>
          <p:nvPr/>
        </p:nvSpPr>
        <p:spPr>
          <a:xfrm>
            <a:off x="5863590" y="3840480"/>
            <a:ext cx="2331720" cy="425196"/>
          </a:xfrm>
          <a:prstGeom prst="roundRect">
            <a:avLst>
              <a:gd fmla="val 12903" name="adj"/>
            </a:avLst>
          </a:prstGeom>
          <a:solidFill>
            <a:srgbClr val="F5F7FF"/>
          </a:solidFill>
          <a:ln cap="flat" cmpd="sng" w="12700">
            <a:solidFill>
              <a:srgbClr val="7AA2D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762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2">
            <a:hlinkClick r:id="rId10"/>
          </p:cNvPr>
          <p:cNvSpPr/>
          <p:nvPr/>
        </p:nvSpPr>
        <p:spPr>
          <a:xfrm>
            <a:off x="5945886" y="3915918"/>
            <a:ext cx="216712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000"/>
              <a:buFont typeface="Arial"/>
              <a:buNone/>
            </a:pPr>
            <a:r>
              <a:rPr b="1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GitHub repo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377190" y="425196"/>
            <a:ext cx="603504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2000"/>
              <a:buFont typeface="Play"/>
              <a:buNone/>
            </a:pPr>
            <a:r>
              <a:rPr b="1" i="0" lang="en" sz="2000" u="none" cap="none" strike="noStrike">
                <a:solidFill>
                  <a:srgbClr val="123B6A"/>
                </a:solidFill>
                <a:latin typeface="Play"/>
                <a:ea typeface="Play"/>
                <a:cs typeface="Play"/>
                <a:sym typeface="Play"/>
              </a:rPr>
              <a:t>Generative AI use and reflection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90906" y="740664"/>
            <a:ext cx="56235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6616F"/>
              </a:buClr>
              <a:buSzPts val="800"/>
              <a:buFont typeface="Arial"/>
              <a:buNone/>
            </a:pPr>
            <a:r>
              <a:rPr b="0" i="1" lang="en" sz="800" u="none" cap="none" strike="noStrike">
                <a:solidFill>
                  <a:srgbClr val="56616F"/>
                </a:solidFill>
                <a:latin typeface="Arial"/>
                <a:ea typeface="Arial"/>
                <a:cs typeface="Arial"/>
                <a:sym typeface="Arial"/>
              </a:rPr>
              <a:t>AI as structured design support, not blind code generation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82930" y="1062990"/>
            <a:ext cx="2674620" cy="1062990"/>
          </a:xfrm>
          <a:prstGeom prst="roundRect">
            <a:avLst>
              <a:gd fmla="val 5161" name="adj"/>
            </a:avLst>
          </a:prstGeom>
          <a:solidFill>
            <a:srgbClr val="F8FB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692658" y="115900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How AI was used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706374" y="1378458"/>
            <a:ext cx="2441448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ChatGPT: design exploration, trade-offs, report and oral framing.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Codex: bounded implementation steps with staged commits.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3394710" y="1062990"/>
            <a:ext cx="2674620" cy="106299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3504438" y="1159002"/>
            <a:ext cx="24688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Why this is higher-level use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3518154" y="1378458"/>
            <a:ext cx="2441448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Used to compare alternatives, refine architecture, and rethink the moderation and auth model rather than only generating boilerplate.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6206490" y="1062990"/>
            <a:ext cx="2194560" cy="1062990"/>
          </a:xfrm>
          <a:prstGeom prst="roundRect">
            <a:avLst>
              <a:gd fmla="val 5161" name="adj"/>
            </a:avLst>
          </a:prstGeom>
          <a:solidFill>
            <a:srgbClr val="F3FBF7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6316218" y="1159002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How it was checked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329934" y="1378458"/>
            <a:ext cx="1961388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Local execution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Endpoint inspection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Pytest runs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Deployment checks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617220" y="2571750"/>
            <a:ext cx="4937760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The conversation evidence links stack choice, schema design, cleaning policy, API structure, moderation redesign, and testing strategy to specific implemented decisions.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21313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21313F"/>
                </a:solidFill>
                <a:latin typeface="Arial"/>
                <a:ea typeface="Arial"/>
                <a:cs typeface="Arial"/>
                <a:sym typeface="Arial"/>
              </a:rPr>
              <a:t>This matches the brief’s emphasis on declared, thoughtful, high-level GenAI use rather than low-level prompting alone.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5726430" y="2743200"/>
            <a:ext cx="2743200" cy="1440180"/>
          </a:xfrm>
          <a:prstGeom prst="roundRect">
            <a:avLst>
              <a:gd fmla="val 3810" name="adj"/>
            </a:avLst>
          </a:prstGeom>
          <a:solidFill>
            <a:srgbClr val="FFF9F2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10160">
              <a:srgbClr val="000000">
                <a:alpha val="1215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836158" y="2839212"/>
            <a:ext cx="25374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A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23B6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sz="1100">
                <a:solidFill>
                  <a:srgbClr val="123B6A"/>
                </a:solidFill>
              </a:rPr>
              <a:t>ummary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849874" y="3058668"/>
            <a:ext cx="2510028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3A46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2E3A46"/>
                </a:solidFill>
                <a:latin typeface="Arial"/>
                <a:ea typeface="Arial"/>
                <a:cs typeface="Arial"/>
                <a:sym typeface="Arial"/>
              </a:rPr>
              <a:t>The final system is stronger because AI was used as a structured engineering assistant, while all major decisions were verified in code, tests, and the deployed demo.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>
            <p:ph idx="4294967295" type="sldNum"/>
          </p:nvPr>
        </p:nvSpPr>
        <p:spPr>
          <a:xfrm>
            <a:off x="8641080" y="4800600"/>
            <a:ext cx="24003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5B657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5B65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