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hyperlink" Target="https://github.com/lokiynwa/web-cw" TargetMode="External"/><Relationship Id="rId9" Type="http://schemas.openxmlformats.org/officeDocument/2006/relationships/hyperlink" Target="https://backend-production-ab5cb.up.railway.app/api/v1/health" TargetMode="External"/><Relationship Id="rId5" Type="http://schemas.openxmlformats.org/officeDocument/2006/relationships/hyperlink" Target="https://github.com/lokiynwa/web-cw/blob/main/docs/api-documentation.pdf" TargetMode="External"/><Relationship Id="rId6" Type="http://schemas.openxmlformats.org/officeDocument/2006/relationships/hyperlink" Target="https://github.com/lokiynwa/web-cw/blob/main/report/technical-report.pdf" TargetMode="External"/><Relationship Id="rId7" Type="http://schemas.openxmlformats.org/officeDocument/2006/relationships/hyperlink" Target="https://github.com/lokiynwa/web-cw/blob/main/student_affordability_presentation.pptx" TargetMode="External"/><Relationship Id="rId8" Type="http://schemas.openxmlformats.org/officeDocument/2006/relationships/hyperlink" Target="https://frontend-production-a7b4.up.railwa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8895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D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COMP3011  ·  Coursework 1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02920" y="91440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Student Affordability</a:t>
            </a:r>
            <a:b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Intelligence API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02920" y="2788920"/>
            <a:ext cx="56692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Combining rental data, live crowd costs &amp;</a:t>
            </a:r>
            <a:br>
              <a:rPr b="0" i="0" lang="en-US" sz="1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role-based moderation for true UK student affordability.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502920" y="3931920"/>
            <a:ext cx="2286000" cy="27432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502920" y="63093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Loki West  ·  201526188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 &amp; Our Solution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Why rent-only tools fall short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457200" y="1325880"/>
            <a:ext cx="5120640" cy="42062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57200" y="1325880"/>
            <a:ext cx="45720" cy="42062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594360" y="1463039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74C3C"/>
                </a:solidFill>
                <a:latin typeface="Calibri"/>
                <a:ea typeface="Calibri"/>
                <a:cs typeface="Calibri"/>
                <a:sym typeface="Calibri"/>
              </a:rPr>
              <a:t>❌  Rent-Only Tools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594360" y="1828800"/>
            <a:ext cx="48462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Single cost dimension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No social spend signal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Misleading city comparisons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Static </a:t>
            </a: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no live data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6583680" y="1325880"/>
            <a:ext cx="5120640" cy="42062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6583680" y="1325880"/>
            <a:ext cx="45720" cy="42062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6720840" y="1463039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ECC71"/>
                </a:solidFill>
                <a:latin typeface="Calibri"/>
                <a:ea typeface="Calibri"/>
                <a:cs typeface="Calibri"/>
                <a:sym typeface="Calibri"/>
              </a:rPr>
              <a:t>✅  Our Approach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6720840" y="1828800"/>
            <a:ext cx="4846320" cy="35661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Kaggle rental dataset (seeded)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Live PINT + TAKEAWAY crowd data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Multi-factor affordability score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Moderated, audit-logged pipeline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5760720" y="310896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&amp; Data Pipeline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Immutable source → clean analytics → shared service layer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02920" y="1234440"/>
            <a:ext cx="1828800" cy="685800"/>
          </a:xfrm>
          <a:prstGeom prst="rect">
            <a:avLst/>
          </a:prstGeom>
          <a:solidFill>
            <a:srgbClr val="0088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/>
          <p:nvPr/>
        </p:nvSpPr>
        <p:spPr>
          <a:xfrm>
            <a:off x="502920" y="1234440"/>
            <a:ext cx="45720" cy="6858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612648" y="1353312"/>
            <a:ext cx="1600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Kaggle CSV</a:t>
            </a:r>
            <a:endParaRPr/>
          </a:p>
        </p:txBody>
      </p:sp>
      <p:sp>
        <p:nvSpPr>
          <p:cNvPr id="122" name="Google Shape;122;p15"/>
          <p:cNvSpPr/>
          <p:nvPr/>
        </p:nvSpPr>
        <p:spPr>
          <a:xfrm>
            <a:off x="2651760" y="1234440"/>
            <a:ext cx="1828800" cy="68580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2651760" y="1234440"/>
            <a:ext cx="45720" cy="6858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2761488" y="1353312"/>
            <a:ext cx="1600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raw_listings</a:t>
            </a: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4800600" y="1234440"/>
            <a:ext cx="1828800" cy="68580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4800600" y="1234440"/>
            <a:ext cx="45720" cy="6858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4910328" y="1353312"/>
            <a:ext cx="1600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cleaned_listings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6949440" y="1234440"/>
            <a:ext cx="1828800" cy="685800"/>
          </a:xfrm>
          <a:prstGeom prst="rect">
            <a:avLst/>
          </a:prstGeom>
          <a:solidFill>
            <a:srgbClr val="0088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/>
          <p:nvPr/>
        </p:nvSpPr>
        <p:spPr>
          <a:xfrm>
            <a:off x="6949440" y="1234440"/>
            <a:ext cx="45720" cy="6858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7059168" y="1353312"/>
            <a:ext cx="1600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Analytics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2359152" y="1371600"/>
            <a:ext cx="274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4507992" y="1371600"/>
            <a:ext cx="274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6656832" y="1371600"/>
            <a:ext cx="274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502920" y="23317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STACK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02920" y="2697480"/>
            <a:ext cx="2331720" cy="5486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/>
          <p:nvPr/>
        </p:nvSpPr>
        <p:spPr>
          <a:xfrm>
            <a:off x="502920" y="2697480"/>
            <a:ext cx="45720" cy="5486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640080" y="281635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React 18 + Vite</a:t>
            </a: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3154680" y="2697480"/>
            <a:ext cx="2331720" cy="5486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3154680" y="2697480"/>
            <a:ext cx="45720" cy="5486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3291840" y="281635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SQLAlchemy</a:t>
            </a:r>
            <a:endParaRPr/>
          </a:p>
        </p:txBody>
      </p:sp>
      <p:sp>
        <p:nvSpPr>
          <p:cNvPr id="141" name="Google Shape;141;p15"/>
          <p:cNvSpPr/>
          <p:nvPr/>
        </p:nvSpPr>
        <p:spPr>
          <a:xfrm>
            <a:off x="5806440" y="2697480"/>
            <a:ext cx="2331720" cy="5486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5"/>
          <p:cNvSpPr/>
          <p:nvPr/>
        </p:nvSpPr>
        <p:spPr>
          <a:xfrm>
            <a:off x="5806440" y="2697480"/>
            <a:ext cx="45720" cy="548640"/>
          </a:xfrm>
          <a:prstGeom prst="rect">
            <a:avLst/>
          </a:prstGeom>
          <a:solidFill>
            <a:srgbClr val="0088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 txBox="1"/>
          <p:nvPr/>
        </p:nvSpPr>
        <p:spPr>
          <a:xfrm>
            <a:off x="5943600" y="281635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 + Alembic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8458200" y="2697480"/>
            <a:ext cx="2331720" cy="5486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8458200" y="2697480"/>
            <a:ext cx="45720" cy="548640"/>
          </a:xfrm>
          <a:prstGeom prst="rect">
            <a:avLst/>
          </a:prstGeom>
          <a:solidFill>
            <a:srgbClr val="2ECC7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8595360" y="2816352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Railway (deploy)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502920" y="3749039"/>
            <a:ext cx="11155680" cy="91440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/>
          <p:nvPr/>
        </p:nvSpPr>
        <p:spPr>
          <a:xfrm>
            <a:off x="502920" y="3749039"/>
            <a:ext cx="45720" cy="91440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 txBox="1"/>
          <p:nvPr/>
        </p:nvSpPr>
        <p:spPr>
          <a:xfrm>
            <a:off x="685800" y="3977639"/>
            <a:ext cx="10789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⚡  REST + MCP share the same service layer </a:t>
            </a: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interface-independent architecture</a:t>
            </a:r>
            <a:endParaRPr/>
          </a:p>
        </p:txBody>
      </p:sp>
      <p:sp>
        <p:nvSpPr>
          <p:cNvPr id="150" name="Google Shape;150;p15"/>
          <p:cNvSpPr/>
          <p:nvPr/>
        </p:nvSpPr>
        <p:spPr>
          <a:xfrm>
            <a:off x="502920" y="4937760"/>
            <a:ext cx="11155800" cy="96000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502920" y="4937760"/>
            <a:ext cx="45600" cy="960000"/>
          </a:xfrm>
          <a:prstGeom prst="rect">
            <a:avLst/>
          </a:prstGeom>
          <a:solidFill>
            <a:srgbClr val="0088A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685800" y="5138928"/>
            <a:ext cx="10789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👥  user_cost_submissions  →  ACTIVE immediately (if validated)  →  moderation_log  →  analytics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Design, Auth &amp; Moderation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Bearer-token auth · role-based permissions · post-publication review</a:t>
            </a:r>
            <a:endParaRPr/>
          </a:p>
        </p:txBody>
      </p:sp>
      <p:sp>
        <p:nvSpPr>
          <p:cNvPr id="162" name="Google Shape;162;p16"/>
          <p:cNvSpPr/>
          <p:nvPr/>
        </p:nvSpPr>
        <p:spPr>
          <a:xfrm>
            <a:off x="457200" y="1280160"/>
            <a:ext cx="3566160" cy="42062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6"/>
          <p:cNvSpPr/>
          <p:nvPr/>
        </p:nvSpPr>
        <p:spPr>
          <a:xfrm>
            <a:off x="457200" y="1280160"/>
            <a:ext cx="45720" cy="42062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 txBox="1"/>
          <p:nvPr/>
        </p:nvSpPr>
        <p:spPr>
          <a:xfrm>
            <a:off x="594360" y="1417319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🔐  Auth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594360" y="1783080"/>
            <a:ext cx="3291840" cy="35661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Register / Login / Me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Bearer token (website)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USER + MODERATOR roles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API keys (dev / MCP)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Passwords hashed</a:t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4343400" y="1280160"/>
            <a:ext cx="3566160" cy="42062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/>
          <p:nvPr/>
        </p:nvSpPr>
        <p:spPr>
          <a:xfrm>
            <a:off x="4343400" y="1280160"/>
            <a:ext cx="45720" cy="42062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6"/>
          <p:cNvSpPr txBox="1"/>
          <p:nvPr/>
        </p:nvSpPr>
        <p:spPr>
          <a:xfrm>
            <a:off x="4480560" y="1417319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🔗  Endpoints  /api/v1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4480560" y="1783080"/>
            <a:ext cx="3291840" cy="35661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/health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/auth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/rent-analytics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/cost-analytics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/affordability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/submissions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/moderation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8183879" y="1280160"/>
            <a:ext cx="3520440" cy="420624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6"/>
          <p:cNvSpPr/>
          <p:nvPr/>
        </p:nvSpPr>
        <p:spPr>
          <a:xfrm>
            <a:off x="8183879" y="1280160"/>
            <a:ext cx="45720" cy="420624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8321040" y="1417319"/>
            <a:ext cx="3246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🔄  Submission States</a:t>
            </a:r>
            <a:endParaRPr/>
          </a:p>
        </p:txBody>
      </p:sp>
      <p:sp>
        <p:nvSpPr>
          <p:cNvPr id="173" name="Google Shape;173;p16"/>
          <p:cNvSpPr/>
          <p:nvPr/>
        </p:nvSpPr>
        <p:spPr>
          <a:xfrm>
            <a:off x="8366760" y="2377440"/>
            <a:ext cx="3063240" cy="502920"/>
          </a:xfrm>
          <a:prstGeom prst="rect">
            <a:avLst/>
          </a:prstGeom>
          <a:solidFill>
            <a:srgbClr val="2ECC7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 txBox="1"/>
          <p:nvPr/>
        </p:nvSpPr>
        <p:spPr>
          <a:xfrm>
            <a:off x="8366760" y="246888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ACTIVE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9692640" y="2907792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8366760" y="3429000"/>
            <a:ext cx="3063240" cy="50292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8366760" y="35204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FLAGGED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9692640" y="3959352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79" name="Google Shape;179;p16"/>
          <p:cNvSpPr/>
          <p:nvPr/>
        </p:nvSpPr>
        <p:spPr>
          <a:xfrm>
            <a:off x="8366760" y="4480560"/>
            <a:ext cx="3063240" cy="502920"/>
          </a:xfrm>
          <a:prstGeom prst="rect">
            <a:avLst/>
          </a:prstGeom>
          <a:solidFill>
            <a:srgbClr val="E74C3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8366760" y="457200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REMOVED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9418320" y="54132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↩ restore</a:t>
            </a:r>
            <a:endParaRPr/>
          </a:p>
        </p:txBody>
      </p:sp>
      <p:sp>
        <p:nvSpPr>
          <p:cNvPr id="182" name="Google Shape;182;p16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0D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6"/>
          <p:cNvSpPr/>
          <p:nvPr/>
        </p:nvSpPr>
        <p:spPr>
          <a:xfrm>
            <a:off x="457200" y="5669280"/>
            <a:ext cx="45720" cy="64008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640080" y="583387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Only ACTIVE submissions are analytics-eligible  ·  Duplicate fingerprinting + plausibility checks run pre-publish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7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Engineering Evidence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Version control · testing · live deployment</a:t>
            </a:r>
            <a:endParaRPr/>
          </a:p>
        </p:txBody>
      </p:sp>
      <p:sp>
        <p:nvSpPr>
          <p:cNvPr id="194" name="Google Shape;194;p17"/>
          <p:cNvSpPr/>
          <p:nvPr/>
        </p:nvSpPr>
        <p:spPr>
          <a:xfrm>
            <a:off x="457200" y="1325880"/>
            <a:ext cx="3520440" cy="429768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7"/>
          <p:cNvSpPr/>
          <p:nvPr/>
        </p:nvSpPr>
        <p:spPr>
          <a:xfrm>
            <a:off x="457200" y="1325880"/>
            <a:ext cx="45720" cy="429768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7"/>
          <p:cNvSpPr txBox="1"/>
          <p:nvPr/>
        </p:nvSpPr>
        <p:spPr>
          <a:xfrm>
            <a:off x="621792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💾  Version Control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621792" y="2011680"/>
            <a:ext cx="32004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Staged feature commits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No single monolithic dump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Clear evolution visible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Public GitHub repo</a:t>
            </a:r>
            <a:endParaRPr/>
          </a:p>
        </p:txBody>
      </p:sp>
      <p:sp>
        <p:nvSpPr>
          <p:cNvPr id="198" name="Google Shape;198;p17"/>
          <p:cNvSpPr/>
          <p:nvPr/>
        </p:nvSpPr>
        <p:spPr>
          <a:xfrm>
            <a:off x="4343400" y="1325880"/>
            <a:ext cx="3520440" cy="429768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4343400" y="1325880"/>
            <a:ext cx="45720" cy="4297680"/>
          </a:xfrm>
          <a:prstGeom prst="rect">
            <a:avLst/>
          </a:prstGeom>
          <a:solidFill>
            <a:srgbClr val="2ECC7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4507992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ECC71"/>
                </a:solidFill>
                <a:latin typeface="Calibri"/>
                <a:ea typeface="Calibri"/>
                <a:cs typeface="Calibri"/>
                <a:sym typeface="Calibri"/>
              </a:rPr>
              <a:t>🧪  Testing  (56 passing)</a:t>
            </a:r>
            <a:endParaRPr/>
          </a:p>
        </p:txBody>
      </p:sp>
      <p:sp>
        <p:nvSpPr>
          <p:cNvPr id="201" name="Google Shape;201;p17"/>
          <p:cNvSpPr txBox="1"/>
          <p:nvPr/>
        </p:nvSpPr>
        <p:spPr>
          <a:xfrm>
            <a:off x="4507992" y="2011680"/>
            <a:ext cx="32004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Unit: parsers, fingerprints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Integration: endpoints, auth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Workflow: end-to-end flows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MCP parity tests</a:t>
            </a:r>
            <a:endParaRPr/>
          </a:p>
        </p:txBody>
      </p:sp>
      <p:sp>
        <p:nvSpPr>
          <p:cNvPr id="202" name="Google Shape;202;p17"/>
          <p:cNvSpPr/>
          <p:nvPr/>
        </p:nvSpPr>
        <p:spPr>
          <a:xfrm>
            <a:off x="8229600" y="1325880"/>
            <a:ext cx="3520440" cy="429768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/>
          <p:nvPr/>
        </p:nvSpPr>
        <p:spPr>
          <a:xfrm>
            <a:off x="8229600" y="1325880"/>
            <a:ext cx="45720" cy="4297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8394192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🚀  Deployment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8394192" y="2011680"/>
            <a:ext cx="32004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Backend on Railway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Frontend on Railway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PostgreSQL on Railway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Env-based configuration</a:t>
            </a:r>
            <a:endParaRPr/>
          </a:p>
        </p:txBody>
      </p:sp>
      <p:sp>
        <p:nvSpPr>
          <p:cNvPr id="206" name="Google Shape;206;p17"/>
          <p:cNvSpPr/>
          <p:nvPr/>
        </p:nvSpPr>
        <p:spPr>
          <a:xfrm>
            <a:off x="457200" y="5852160"/>
            <a:ext cx="11247120" cy="594360"/>
          </a:xfrm>
          <a:prstGeom prst="rect">
            <a:avLst/>
          </a:prstGeom>
          <a:solidFill>
            <a:srgbClr val="0D141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7"/>
          <p:cNvSpPr/>
          <p:nvPr/>
        </p:nvSpPr>
        <p:spPr>
          <a:xfrm>
            <a:off x="457200" y="5852160"/>
            <a:ext cx="45720" cy="59436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640080" y="600760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Frontend tested via production builds + manual demo-path checks  ·  Live at backend-production-ab5cb.up.railway.app</a:t>
            </a:r>
            <a:endParaRPr/>
          </a:p>
        </p:txBody>
      </p:sp>
      <p:pic>
        <p:nvPicPr>
          <p:cNvPr descr="a silhouette of a cat with a tail in a black circle (Provided by Tenor)" id="209" name="Google Shape;20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5525" y="3428988"/>
            <a:ext cx="1349238" cy="1349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8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Report &amp; GenAI Usage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Green Light assessment · high-level structured AI use</a:t>
            </a: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457200" y="1325880"/>
            <a:ext cx="5120640" cy="475488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8"/>
          <p:cNvSpPr/>
          <p:nvPr/>
        </p:nvSpPr>
        <p:spPr>
          <a:xfrm>
            <a:off x="457200" y="1325880"/>
            <a:ext cx="45720" cy="475488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8"/>
          <p:cNvSpPr txBox="1"/>
          <p:nvPr/>
        </p:nvSpPr>
        <p:spPr>
          <a:xfrm>
            <a:off x="594360" y="1463039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📝  Report Highlights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594360" y="1828800"/>
            <a:ext cx="4846200" cy="14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FastAPI vs Django </a:t>
            </a:r>
            <a:r>
              <a:rPr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justified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Conservative null-over-guess policy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Pre → post-publication redesign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Limitations declared honestly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Testing strategy explained</a:t>
            </a:r>
            <a:endParaRPr/>
          </a:p>
        </p:txBody>
      </p:sp>
      <p:sp>
        <p:nvSpPr>
          <p:cNvPr id="223" name="Google Shape;223;p18"/>
          <p:cNvSpPr/>
          <p:nvPr/>
        </p:nvSpPr>
        <p:spPr>
          <a:xfrm>
            <a:off x="6126480" y="1325880"/>
            <a:ext cx="5577840" cy="4754880"/>
          </a:xfrm>
          <a:prstGeom prst="rect">
            <a:avLst/>
          </a:prstGeom>
          <a:solidFill>
            <a:srgbClr val="1C2E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8"/>
          <p:cNvSpPr/>
          <p:nvPr/>
        </p:nvSpPr>
        <p:spPr>
          <a:xfrm>
            <a:off x="6126480" y="1325880"/>
            <a:ext cx="45720" cy="475488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"/>
          <p:cNvSpPr txBox="1"/>
          <p:nvPr/>
        </p:nvSpPr>
        <p:spPr>
          <a:xfrm>
            <a:off x="6263640" y="1463039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🤖  GenAI Use (ChatGPT + Codex)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6263640" y="1828800"/>
            <a:ext cx="53034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Architecture alternatives explored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Schema &amp; cleaning policy design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Auth / moderation structure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Testing strategy review</a:t>
            </a:r>
            <a:endParaRPr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Report structure refinement</a:t>
            </a:r>
            <a:endParaRPr b="0" i="0" sz="15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Help designing Presentation</a:t>
            </a:r>
            <a:endParaRPr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8"/>
          <p:cNvSpPr/>
          <p:nvPr/>
        </p:nvSpPr>
        <p:spPr>
          <a:xfrm>
            <a:off x="6126480" y="5074920"/>
            <a:ext cx="45720" cy="777240"/>
          </a:xfrm>
          <a:prstGeom prst="rect">
            <a:avLst/>
          </a:prstGeom>
          <a:solidFill>
            <a:srgbClr val="2ECC7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18" title="Screenshot 2026-03-13 at 17.08.41.png"/>
          <p:cNvPicPr preferRelativeResize="0"/>
          <p:nvPr/>
        </p:nvPicPr>
        <p:blipFill rotWithShape="1">
          <a:blip r:embed="rId3">
            <a:alphaModFix/>
          </a:blip>
          <a:srcRect b="0" l="0" r="13270" t="0"/>
          <a:stretch/>
        </p:blipFill>
        <p:spPr>
          <a:xfrm>
            <a:off x="6263650" y="4066025"/>
            <a:ext cx="5303501" cy="614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3" name="Google Shape;23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8895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9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502920" y="219456"/>
            <a:ext cx="292608" cy="36576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Live Demo &amp; Deliverables</a:t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457200" y="1417320"/>
            <a:ext cx="3383280" cy="9144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457200" y="1417320"/>
            <a:ext cx="45720" cy="9144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594360" y="149047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1005840" y="16184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View affordability without login</a:t>
            </a:r>
            <a:endParaRPr/>
          </a:p>
        </p:txBody>
      </p:sp>
      <p:sp>
        <p:nvSpPr>
          <p:cNvPr id="241" name="Google Shape;241;p19"/>
          <p:cNvSpPr/>
          <p:nvPr/>
        </p:nvSpPr>
        <p:spPr>
          <a:xfrm>
            <a:off x="4297680" y="1417320"/>
            <a:ext cx="3383280" cy="9144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4297680" y="1417320"/>
            <a:ext cx="45720" cy="9144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4434840" y="149047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4846320" y="16184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Register + log in</a:t>
            </a:r>
            <a:endParaRPr/>
          </a:p>
        </p:txBody>
      </p:sp>
      <p:sp>
        <p:nvSpPr>
          <p:cNvPr id="245" name="Google Shape;245;p19"/>
          <p:cNvSpPr/>
          <p:nvPr/>
        </p:nvSpPr>
        <p:spPr>
          <a:xfrm>
            <a:off x="8138160" y="1417320"/>
            <a:ext cx="3383280" cy="9144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8138160" y="1417320"/>
            <a:ext cx="45720" cy="9144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9"/>
          <p:cNvSpPr txBox="1"/>
          <p:nvPr/>
        </p:nvSpPr>
        <p:spPr>
          <a:xfrm>
            <a:off x="8275320" y="149047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8686800" y="16184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Submit a takeaway price</a:t>
            </a:r>
            <a:endParaRPr/>
          </a:p>
        </p:txBody>
      </p:sp>
      <p:sp>
        <p:nvSpPr>
          <p:cNvPr id="249" name="Google Shape;249;p19"/>
          <p:cNvSpPr/>
          <p:nvPr/>
        </p:nvSpPr>
        <p:spPr>
          <a:xfrm>
            <a:off x="457200" y="2788920"/>
            <a:ext cx="3383280" cy="9144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9"/>
          <p:cNvSpPr/>
          <p:nvPr/>
        </p:nvSpPr>
        <p:spPr>
          <a:xfrm>
            <a:off x="457200" y="2788920"/>
            <a:ext cx="45720" cy="9144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 txBox="1"/>
          <p:nvPr/>
        </p:nvSpPr>
        <p:spPr>
          <a:xfrm>
            <a:off x="594360" y="286207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1005840" y="29900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Analytics update immediately</a:t>
            </a:r>
            <a:endParaRPr/>
          </a:p>
        </p:txBody>
      </p:sp>
      <p:sp>
        <p:nvSpPr>
          <p:cNvPr id="253" name="Google Shape;253;p19"/>
          <p:cNvSpPr/>
          <p:nvPr/>
        </p:nvSpPr>
        <p:spPr>
          <a:xfrm>
            <a:off x="4297680" y="2788920"/>
            <a:ext cx="3383280" cy="914400"/>
          </a:xfrm>
          <a:prstGeom prst="rect">
            <a:avLst/>
          </a:prstGeom>
          <a:solidFill>
            <a:srgbClr val="1422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9"/>
          <p:cNvSpPr/>
          <p:nvPr/>
        </p:nvSpPr>
        <p:spPr>
          <a:xfrm>
            <a:off x="4297680" y="2788920"/>
            <a:ext cx="45720" cy="914400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9"/>
          <p:cNvSpPr txBox="1"/>
          <p:nvPr/>
        </p:nvSpPr>
        <p:spPr>
          <a:xfrm>
            <a:off x="4434840" y="2862072"/>
            <a:ext cx="457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4846320" y="2990088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Moderator flags / removes it</a:t>
            </a:r>
            <a:endParaRPr/>
          </a:p>
        </p:txBody>
      </p:sp>
      <p:sp>
        <p:nvSpPr>
          <p:cNvPr id="257" name="Google Shape;257;p19"/>
          <p:cNvSpPr/>
          <p:nvPr/>
        </p:nvSpPr>
        <p:spPr>
          <a:xfrm>
            <a:off x="0" y="5806440"/>
            <a:ext cx="12188952" cy="54864"/>
          </a:xfrm>
          <a:prstGeom prst="rect">
            <a:avLst/>
          </a:prstGeom>
          <a:solidFill>
            <a:srgbClr val="00C2E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9"/>
          <p:cNvSpPr/>
          <p:nvPr/>
        </p:nvSpPr>
        <p:spPr>
          <a:xfrm>
            <a:off x="27432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9"/>
          <p:cNvSpPr txBox="1"/>
          <p:nvPr/>
        </p:nvSpPr>
        <p:spPr>
          <a:xfrm>
            <a:off x="34747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💻  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GitHub Repo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219456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 txBox="1"/>
          <p:nvPr/>
        </p:nvSpPr>
        <p:spPr>
          <a:xfrm>
            <a:off x="226771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  API Docs (PDF)</a:t>
            </a:r>
            <a:endParaRPr/>
          </a:p>
        </p:txBody>
      </p:sp>
      <p:sp>
        <p:nvSpPr>
          <p:cNvPr id="262" name="Google Shape;262;p19"/>
          <p:cNvSpPr/>
          <p:nvPr/>
        </p:nvSpPr>
        <p:spPr>
          <a:xfrm>
            <a:off x="411480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 txBox="1"/>
          <p:nvPr/>
        </p:nvSpPr>
        <p:spPr>
          <a:xfrm>
            <a:off x="418795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📋  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Technical Report</a:t>
            </a:r>
            <a:endParaRPr/>
          </a:p>
        </p:txBody>
      </p:sp>
      <p:sp>
        <p:nvSpPr>
          <p:cNvPr id="264" name="Google Shape;264;p19"/>
          <p:cNvSpPr/>
          <p:nvPr/>
        </p:nvSpPr>
        <p:spPr>
          <a:xfrm>
            <a:off x="603504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9"/>
          <p:cNvSpPr txBox="1"/>
          <p:nvPr/>
        </p:nvSpPr>
        <p:spPr>
          <a:xfrm>
            <a:off x="610819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📊  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Slides (PPTX)</a:t>
            </a:r>
            <a:endParaRPr/>
          </a:p>
        </p:txBody>
      </p:sp>
      <p:sp>
        <p:nvSpPr>
          <p:cNvPr id="266" name="Google Shape;266;p19"/>
          <p:cNvSpPr/>
          <p:nvPr/>
        </p:nvSpPr>
        <p:spPr>
          <a:xfrm>
            <a:off x="795528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9"/>
          <p:cNvSpPr txBox="1"/>
          <p:nvPr/>
        </p:nvSpPr>
        <p:spPr>
          <a:xfrm>
            <a:off x="802843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🌐  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Live Frontend</a:t>
            </a:r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9875520" y="6035040"/>
            <a:ext cx="1737360" cy="594360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9"/>
          <p:cNvSpPr txBox="1"/>
          <p:nvPr/>
        </p:nvSpPr>
        <p:spPr>
          <a:xfrm>
            <a:off x="9948672" y="6144768"/>
            <a:ext cx="160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⚡ </a:t>
            </a:r>
            <a:r>
              <a:rPr b="1" i="0" lang="en-US" sz="11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 Live Backend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